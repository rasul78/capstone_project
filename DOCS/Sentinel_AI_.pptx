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16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A2980">
              <a:alpha val="40000"/>
            </a:srgbClr>
          </a:solidFill>
          <a:ln w="12700">
            <a:solidFill>
              <a:srgbClr val="1A298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201168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 САТПАЕВА · 2024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2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AI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платформа анализа документов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MiniTransformer · VisionNet CNN · 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206240" cy="1371600"/>
          </a:xfrm>
          <a:prstGeom prst="rect">
            <a:avLst/>
          </a:prstGeom>
          <a:solidFill>
            <a:srgbClr val="111827">
              <a:alpha val="80000"/>
            </a:srgbClr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685800" y="3218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проекта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Әбілмәжінов Расул Айдынұлы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767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 · Кафедра </a:t>
            </a:r>
            <a:r>
              <a:rPr lang="en-US" sz="95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Информационных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k-KZ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9867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 Сатпаева · Алматы, Казахстан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92240" y="3108960"/>
            <a:ext cx="786384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85876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88352" y="3108960"/>
            <a:ext cx="786384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7"/>
          <p:cNvSpPr/>
          <p:nvPr/>
        </p:nvSpPr>
        <p:spPr>
          <a:xfrm>
            <a:off x="7388352" y="32461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88352" y="385876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84464" y="3108960"/>
            <a:ext cx="786384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8284464" y="3246120"/>
            <a:ext cx="786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CNN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84464" y="3858768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это важно сейчас?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141732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486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66928" y="1472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Потеря времени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1837944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тратят до 30% рабочего времени на поиск информации в документах, регламентах и политиках компании.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4023360" cy="141732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5486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910328" y="1472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13832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Ошибки и неточности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13832" y="1837944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поиск в документах приводит к ошибкам: устаревшие данные, неправильные трактовки, пропуск критических деталей.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66928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30906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Финансовые потери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438144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 теряют миллиарды тенге из-за неэффективного управления знаниями и отсутствия умных инструментов поиска.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4023360" cy="141732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4800600" y="3017520"/>
            <a:ext cx="5486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910328" y="3072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513832" y="30906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Информационный хаос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13832" y="3438144"/>
            <a:ext cx="31821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 документов, политик, инструкций — без единой системы поиска и анализа сотрудники теряются в потоке данных.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AI — умная база знаний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54864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621792" y="131673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AI — это платформа на основе нейронных сетей, которая позволяет любому сотруднику мгновенно найти ответ на вопрос из корпоративных документов, используя технологию RAG (Retrieval-Augmented Generation) с собственным MiniTransformer-энкодером и векторным поиском по семантике.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697480" cy="237744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10"/>
          <p:cNvSpPr/>
          <p:nvPr/>
        </p:nvSpPr>
        <p:spPr>
          <a:xfrm>
            <a:off x="621792" y="2578608"/>
            <a:ext cx="594360" cy="59436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621792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Семантический поиск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" y="371246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ответы по смыслу, а не по ключевым словам. MiniTransformer понимает контекст вопроса.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55848" y="2468880"/>
            <a:ext cx="2697480" cy="237744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3520440" y="2578608"/>
            <a:ext cx="594360" cy="59436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3520440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83864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Собственная нейросеть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83864" y="371246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MiniTransformer (2 слоя, d=128, 4 головы) обучается на документах компании без внешних API.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4496" y="2468880"/>
            <a:ext cx="2697480" cy="237744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20"/>
          <p:cNvSpPr/>
          <p:nvPr/>
        </p:nvSpPr>
        <p:spPr>
          <a:xfrm>
            <a:off x="6419088" y="2578608"/>
            <a:ext cx="594360" cy="59436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6419088" y="25786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82512" y="3291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Анализ изображений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371246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 CNN (ResNet + SE Attention) классифицирует изображения с точностью до 92% на CIFAR-10.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Техническая архитектура системы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78308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365760" y="1170432"/>
            <a:ext cx="1783080" cy="329184"/>
          </a:xfrm>
          <a:prstGeom prst="rect">
            <a:avLst/>
          </a:prstGeom>
          <a:solidFill>
            <a:srgbClr val="06B6D4">
              <a:alpha val="7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ФРОНТЕНД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5544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48840" y="205740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228600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1170432"/>
            <a:ext cx="178308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2331720" y="1170432"/>
            <a:ext cx="1783080" cy="329184"/>
          </a:xfrm>
          <a:prstGeom prst="rect">
            <a:avLst/>
          </a:prstGeom>
          <a:solidFill>
            <a:srgbClr val="4F46E5">
              <a:alpha val="7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2331720" y="1170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04872" y="15544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CORS/SSE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205740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25196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1170432"/>
            <a:ext cx="178308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4297680" y="1170432"/>
            <a:ext cx="1783080" cy="329184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297680" y="1170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НЕЙРОСЕТИ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70832" y="15544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MiniTransformer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 CNN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205740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621792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1170432"/>
            <a:ext cx="178308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4"/>
          <p:cNvSpPr/>
          <p:nvPr/>
        </p:nvSpPr>
        <p:spPr>
          <a:xfrm>
            <a:off x="6263640" y="1170432"/>
            <a:ext cx="1783080" cy="329184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6263640" y="1170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ХРАНИЛИЩЕ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36792" y="15544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индекс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128d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205740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8183880" y="1965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1170432"/>
            <a:ext cx="1783080" cy="2011680"/>
          </a:xfrm>
          <a:prstGeom prst="rect">
            <a:avLst/>
          </a:prstGeom>
          <a:solidFill>
            <a:srgbClr val="0D1B3E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30"/>
          <p:cNvSpPr/>
          <p:nvPr/>
        </p:nvSpPr>
        <p:spPr>
          <a:xfrm>
            <a:off x="8229600" y="1170432"/>
            <a:ext cx="1783080" cy="32918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8229600" y="117043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ФАЙЛЫ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02752" y="15544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.md .csv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.json .pdf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401568"/>
            <a:ext cx="8412480" cy="1417320"/>
          </a:xfrm>
          <a:prstGeom prst="rect">
            <a:avLst/>
          </a:prstGeom>
          <a:solidFill>
            <a:srgbClr val="060B18"/>
          </a:solidFill>
          <a:ln w="1016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50292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 RAG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" y="3803904"/>
            <a:ext cx="256032" cy="25603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6"/>
          <p:cNvSpPr/>
          <p:nvPr/>
        </p:nvSpPr>
        <p:spPr>
          <a:xfrm>
            <a:off x="502920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7512" y="37307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загружается и нарезается на чанки по 150 слов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24328" y="3803904"/>
            <a:ext cx="256032" cy="25603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2624328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88920" y="37307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SimpleTokenizer + MiniTransformer → вектор 128 измерений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45736" y="3803904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4745736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910328" y="37307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сохраняется в PostgreSQL (chunks.vector как JSON)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867144" y="380390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6867144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31736" y="37307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кодируется → Cosine Similarity → Top-K чанков → Ответ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НЕЙРОННАЯ СЕТЬ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MiniTransformer — собственный энкодер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411480" y="1261872"/>
            <a:ext cx="54864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токены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+ слова + [SEP]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03120" y="166420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176479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11480" y="1764792"/>
            <a:ext cx="54864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54864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(vocab=10K)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1984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d=128, Padding idx=0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21671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26771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411480" y="2267712"/>
            <a:ext cx="54864" cy="42062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48640" y="23042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24871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Sin/Cos, max_len=128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03120" y="267004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77063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411480" y="2770632"/>
            <a:ext cx="54864" cy="4206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48640" y="2807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TransformerEncoderLayer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9900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слоя, 4 головы, FFN=512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317296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1480" y="327355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411480" y="3273552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48640" y="3310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padding-токенов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03120" y="367588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77647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32"/>
          <p:cNvSpPr/>
          <p:nvPr/>
        </p:nvSpPr>
        <p:spPr>
          <a:xfrm>
            <a:off x="411480" y="3776472"/>
            <a:ext cx="5486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548640" y="3813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9959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128→128, L2-нормализация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103120" y="417880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↓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4279392"/>
            <a:ext cx="4114800" cy="420624"/>
          </a:xfrm>
          <a:prstGeom prst="rect">
            <a:avLst/>
          </a:prstGeom>
          <a:solidFill>
            <a:srgbClr val="0D1B3E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7"/>
          <p:cNvSpPr/>
          <p:nvPr/>
        </p:nvSpPr>
        <p:spPr>
          <a:xfrm>
            <a:off x="411480" y="4279392"/>
            <a:ext cx="5486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548640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128d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4988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Семантическое представление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МОДЕЛИ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1627632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5074920" y="16642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энкодера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~320K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937760" y="2139696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5"/>
          <p:cNvSpPr/>
          <p:nvPr/>
        </p:nvSpPr>
        <p:spPr>
          <a:xfrm>
            <a:off x="5074920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 вектора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06640" y="21762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128d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937760" y="2651760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8"/>
          <p:cNvSpPr/>
          <p:nvPr/>
        </p:nvSpPr>
        <p:spPr>
          <a:xfrm>
            <a:off x="5074920" y="26883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длина текста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06640" y="2688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 токенов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937760" y="3163824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1"/>
          <p:cNvSpPr/>
          <p:nvPr/>
        </p:nvSpPr>
        <p:spPr>
          <a:xfrm>
            <a:off x="507492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066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10 000 слов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937760" y="3675888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4"/>
          <p:cNvSpPr/>
          <p:nvPr/>
        </p:nvSpPr>
        <p:spPr>
          <a:xfrm>
            <a:off x="5074920" y="3712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головы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06640" y="37124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головы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937760" y="4187952"/>
            <a:ext cx="3931920" cy="420624"/>
          </a:xfrm>
          <a:prstGeom prst="rect">
            <a:avLst/>
          </a:prstGeom>
          <a:solidFill>
            <a:srgbClr val="0D1B3E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5074920" y="42245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Слои трансформера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406640" y="4224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слоя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1828800"/>
            <a:ext cx="5486400" cy="54864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 CNN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Классификация изображений — ResNet + SE Attention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96012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47472" y="1417320"/>
            <a:ext cx="960120" cy="201168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47472" y="1417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Вход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3×32×32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07592" y="160020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26464" y="1737360"/>
            <a:ext cx="96012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1426464" y="1737360"/>
            <a:ext cx="960120" cy="201168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1426464" y="17373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463040" y="196596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3→64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386584" y="192024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05456" y="1673352"/>
            <a:ext cx="96012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2505456" y="1673352"/>
            <a:ext cx="960120" cy="201168"/>
          </a:xfrm>
          <a:prstGeom prst="rect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2505456" y="16733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542032" y="1901952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64×32×32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ResBlock+SE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65576" y="1856232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84448" y="1609344"/>
            <a:ext cx="960120" cy="1051560"/>
          </a:xfrm>
          <a:prstGeom prst="rect">
            <a:avLst/>
          </a:prstGeom>
          <a:solidFill>
            <a:srgbClr val="0D1B3E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3584448" y="1609344"/>
            <a:ext cx="960120" cy="201168"/>
          </a:xfrm>
          <a:prstGeom prst="rect">
            <a:avLst/>
          </a:prstGeom>
          <a:solidFill>
            <a:srgbClr val="4F46E5">
              <a:alpha val="7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3584448" y="1609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2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21024" y="1837944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128×16×16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↓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44568" y="1792224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545336"/>
            <a:ext cx="96012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00016" y="1773936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256×8×8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↓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623560" y="1728216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42432" y="1481328"/>
            <a:ext cx="96012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32"/>
          <p:cNvSpPr/>
          <p:nvPr/>
        </p:nvSpPr>
        <p:spPr>
          <a:xfrm>
            <a:off x="5742432" y="1481328"/>
            <a:ext cx="960120" cy="201168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5742432" y="14813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Stage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779008" y="1709928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512×4×4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↓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02552" y="1664208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21424" y="1417320"/>
            <a:ext cx="96012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7"/>
          <p:cNvSpPr/>
          <p:nvPr/>
        </p:nvSpPr>
        <p:spPr>
          <a:xfrm>
            <a:off x="6821424" y="1417320"/>
            <a:ext cx="960120" cy="201168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6821424" y="1417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858000" y="164592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512×1×1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781544" y="1600200"/>
            <a:ext cx="11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0416" y="1417320"/>
            <a:ext cx="96012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Shape 42"/>
          <p:cNvSpPr/>
          <p:nvPr/>
        </p:nvSpPr>
        <p:spPr>
          <a:xfrm>
            <a:off x="7900416" y="1417320"/>
            <a:ext cx="960120" cy="201168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7900416" y="14173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FC→10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936992" y="1645920"/>
            <a:ext cx="886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2514600"/>
            <a:ext cx="3931920" cy="1371600"/>
          </a:xfrm>
          <a:prstGeom prst="rect">
            <a:avLst/>
          </a:prstGeom>
          <a:solidFill>
            <a:srgbClr val="060B18"/>
          </a:solidFill>
          <a:ln w="1016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46"/>
          <p:cNvSpPr/>
          <p:nvPr/>
        </p:nvSpPr>
        <p:spPr>
          <a:xfrm>
            <a:off x="365760" y="2514600"/>
            <a:ext cx="54864" cy="1371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7"/>
          <p:cNvSpPr/>
          <p:nvPr/>
        </p:nvSpPr>
        <p:spPr>
          <a:xfrm>
            <a:off x="512064" y="2587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ATTENTION (Squeeze-and-Excitation)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2064" y="286207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GlobalAvgPool [B,C] → FC(C→C/16) → ReLU → FC(C/16→C) → Sigmoid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 сеть взвешивать важность каждого канала (channel attention).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+2-3% точности без значительного роста параметров.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0" y="251460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ОБУЧЕНИЯ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283464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1"/>
          <p:cNvSpPr/>
          <p:nvPr/>
        </p:nvSpPr>
        <p:spPr>
          <a:xfrm>
            <a:off x="4663440" y="28620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32320" y="28620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CIFAR-10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0" y="315468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4"/>
          <p:cNvSpPr/>
          <p:nvPr/>
        </p:nvSpPr>
        <p:spPr>
          <a:xfrm>
            <a:off x="4663440" y="3182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132320" y="31821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347472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4663440" y="35021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132320" y="3502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~2.5M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0" y="379476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60"/>
          <p:cNvSpPr/>
          <p:nvPr/>
        </p:nvSpPr>
        <p:spPr>
          <a:xfrm>
            <a:off x="4663440" y="38221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132320" y="38221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0" y="411480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Text 63"/>
          <p:cNvSpPr/>
          <p:nvPr/>
        </p:nvSpPr>
        <p:spPr>
          <a:xfrm>
            <a:off x="4663440" y="4142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Оптимайзер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132320" y="414223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AdamW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0" y="4434840"/>
            <a:ext cx="4251960" cy="274320"/>
          </a:xfrm>
          <a:prstGeom prst="rect">
            <a:avLst/>
          </a:prstGeom>
          <a:solidFill>
            <a:srgbClr val="0D1B3E"/>
          </a:solidFill>
          <a:ln w="508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Text 66"/>
          <p:cNvSpPr/>
          <p:nvPr/>
        </p:nvSpPr>
        <p:spPr>
          <a:xfrm>
            <a:off x="4663440" y="4462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132320" y="446227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CosineALR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9144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— Retrieval-Augmented Generation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521208" y="1371600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521208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06424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Загрузка документа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06424" y="16367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(.txt, .md, .csv, .json) загружается через API. Поддерживается drag-and-drop интерфейс.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82312" y="126187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475488" cy="475488"/>
          </a:xfrm>
          <a:prstGeom prst="ellipse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89204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77256" y="1344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Чанкинг текста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77256" y="163677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нарезается на чанки по 150 слов с перекрытием 50 слов (overlap) для сохранения контекста.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49631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521208" y="2606040"/>
            <a:ext cx="475488" cy="475488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521208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6424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Векторизация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06424" y="28712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SimpleTokenizer → MiniTransformer → L2-нормализованный вектор 128 измерений. Батчи по 32.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82312" y="249631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22"/>
          <p:cNvSpPr/>
          <p:nvPr/>
        </p:nvSpPr>
        <p:spPr>
          <a:xfrm>
            <a:off x="4892040" y="2606040"/>
            <a:ext cx="475488" cy="475488"/>
          </a:xfrm>
          <a:prstGeom prst="ellipse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89204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77256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Хранение в PostgreSQL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77256" y="28712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 сохраняется как JSON в поле chunks.vector. Документ индексируется мгновенно.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73075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7"/>
          <p:cNvSpPr/>
          <p:nvPr/>
        </p:nvSpPr>
        <p:spPr>
          <a:xfrm>
            <a:off x="521208" y="3840480"/>
            <a:ext cx="475488" cy="47548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521208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6424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Поиск по запросу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6424" y="41056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→ MiniTransformer → Cosine Similarity с матрицей всех чанков → Top-5 релевантных.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82312" y="3730752"/>
            <a:ext cx="4114800" cy="109728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32"/>
          <p:cNvSpPr/>
          <p:nvPr/>
        </p:nvSpPr>
        <p:spPr>
          <a:xfrm>
            <a:off x="4892040" y="3840480"/>
            <a:ext cx="475488" cy="475488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489204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77256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Генерация ответа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77256" y="41056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предложения из top-K чанков извлекаются, ранжируются по overlap и возвращаются с источником.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3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 технологический стек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1609344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1609344" cy="43891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🖥 FRONTEND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457200" y="24414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457200" y="37581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1207008"/>
            <a:ext cx="1609344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4F46E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2103120" y="1207008"/>
            <a:ext cx="1609344" cy="438912"/>
          </a:xfrm>
          <a:prstGeom prst="rect">
            <a:avLst/>
          </a:prstGeom>
          <a:solidFill>
            <a:srgbClr val="4F46E5">
              <a:alpha val="8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210312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 BACKEND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94560" y="1783080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2194560" y="1783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94560" y="2441448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2194560" y="24414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94560" y="3099816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4"/>
          <p:cNvSpPr/>
          <p:nvPr/>
        </p:nvSpPr>
        <p:spPr>
          <a:xfrm>
            <a:off x="2194560" y="309981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94560" y="3758184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2194560" y="37581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/ WebSocket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1207008"/>
            <a:ext cx="1609344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8"/>
          <p:cNvSpPr/>
          <p:nvPr/>
        </p:nvSpPr>
        <p:spPr>
          <a:xfrm>
            <a:off x="3840480" y="1207008"/>
            <a:ext cx="1609344" cy="43891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384048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AI / ML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31920" y="1783080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3931920" y="1783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2441448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3931920" y="24414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MiniTransformer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31920" y="3099816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3931920" y="309981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 CNN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31920" y="3758184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3931920" y="37581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SimpleTokenizer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77840" y="1207008"/>
            <a:ext cx="1609344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39"/>
          <p:cNvSpPr/>
          <p:nvPr/>
        </p:nvSpPr>
        <p:spPr>
          <a:xfrm>
            <a:off x="5577840" y="1207008"/>
            <a:ext cx="1609344" cy="438912"/>
          </a:xfrm>
          <a:prstGeom prst="rect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40"/>
          <p:cNvSpPr/>
          <p:nvPr/>
        </p:nvSpPr>
        <p:spPr>
          <a:xfrm>
            <a:off x="557784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🐘 DATABASE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69280" y="1783080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2"/>
          <p:cNvSpPr/>
          <p:nvPr/>
        </p:nvSpPr>
        <p:spPr>
          <a:xfrm>
            <a:off x="5669280" y="1783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69280" y="2441448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4"/>
          <p:cNvSpPr/>
          <p:nvPr/>
        </p:nvSpPr>
        <p:spPr>
          <a:xfrm>
            <a:off x="5669280" y="24414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Pool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69280" y="3099816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5669280" y="309981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JSON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0" y="3758184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8"/>
          <p:cNvSpPr/>
          <p:nvPr/>
        </p:nvSpPr>
        <p:spPr>
          <a:xfrm>
            <a:off x="5669280" y="37581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315200" y="1207008"/>
            <a:ext cx="1609344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2" name="Shape 50"/>
          <p:cNvSpPr/>
          <p:nvPr/>
        </p:nvSpPr>
        <p:spPr>
          <a:xfrm>
            <a:off x="7315200" y="1207008"/>
            <a:ext cx="1609344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1"/>
          <p:cNvSpPr/>
          <p:nvPr/>
        </p:nvSpPr>
        <p:spPr>
          <a:xfrm>
            <a:off x="7315200" y="12070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🐳 DEVOPS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06640" y="1783080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3"/>
          <p:cNvSpPr/>
          <p:nvPr/>
        </p:nvSpPr>
        <p:spPr>
          <a:xfrm>
            <a:off x="7406640" y="178308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406640" y="2441448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5"/>
          <p:cNvSpPr/>
          <p:nvPr/>
        </p:nvSpPr>
        <p:spPr>
          <a:xfrm>
            <a:off x="7406640" y="2441448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406640" y="3099816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7"/>
          <p:cNvSpPr/>
          <p:nvPr/>
        </p:nvSpPr>
        <p:spPr>
          <a:xfrm>
            <a:off x="7406640" y="309981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406640" y="3758184"/>
            <a:ext cx="1426464" cy="54864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59"/>
          <p:cNvSpPr/>
          <p:nvPr/>
        </p:nvSpPr>
        <p:spPr>
          <a:xfrm>
            <a:off x="7406640" y="3758184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Пользовательский интерфейс платформы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1417320" cy="3611880"/>
          </a:xfrm>
          <a:prstGeom prst="rect">
            <a:avLst/>
          </a:prstGeom>
          <a:solidFill>
            <a:srgbClr val="060B18"/>
          </a:solidFill>
          <a:ln w="1016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1380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 Sentinel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627632"/>
            <a:ext cx="1362456" cy="9144"/>
          </a:xfrm>
          <a:prstGeom prst="rect">
            <a:avLst/>
          </a:prstGeom>
          <a:solidFill>
            <a:srgbClr val="1A2550"/>
          </a:solidFill>
          <a:ln w="1270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9"/>
          <p:cNvSpPr/>
          <p:nvPr/>
        </p:nvSpPr>
        <p:spPr>
          <a:xfrm>
            <a:off x="420624" y="1700784"/>
            <a:ext cx="1289304" cy="457200"/>
          </a:xfrm>
          <a:prstGeom prst="rect">
            <a:avLst/>
          </a:prstGeom>
          <a:solidFill>
            <a:srgbClr val="1A2550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База знаний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0624" y="2231136"/>
            <a:ext cx="1289304" cy="457200"/>
          </a:xfrm>
          <a:prstGeom prst="rect">
            <a:avLst/>
          </a:prstGeom>
          <a:solidFill>
            <a:srgbClr val="060B18"/>
          </a:solidFill>
          <a:ln w="6350">
            <a:solidFill>
              <a:srgbClr val="060B1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Обучение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2761488"/>
            <a:ext cx="1289304" cy="457200"/>
          </a:xfrm>
          <a:prstGeom prst="rect">
            <a:avLst/>
          </a:prstGeom>
          <a:solidFill>
            <a:srgbClr val="060B18"/>
          </a:solidFill>
          <a:ln w="6350">
            <a:solidFill>
              <a:srgbClr val="060B1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4"/>
          <p:cNvSpPr/>
          <p:nvPr/>
        </p:nvSpPr>
        <p:spPr>
          <a:xfrm>
            <a:off x="457200" y="279806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Распознавание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" y="3291840"/>
            <a:ext cx="1289304" cy="457200"/>
          </a:xfrm>
          <a:prstGeom prst="rect">
            <a:avLst/>
          </a:prstGeom>
          <a:solidFill>
            <a:srgbClr val="060B18"/>
          </a:solidFill>
          <a:ln w="6350">
            <a:solidFill>
              <a:srgbClr val="060B1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Архитектура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74520" y="1207008"/>
            <a:ext cx="6903720" cy="3611880"/>
          </a:xfrm>
          <a:prstGeom prst="rect">
            <a:avLst/>
          </a:prstGeom>
          <a:solidFill>
            <a:srgbClr val="080A12"/>
          </a:solidFill>
          <a:ln w="1016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8"/>
          <p:cNvSpPr/>
          <p:nvPr/>
        </p:nvSpPr>
        <p:spPr>
          <a:xfrm>
            <a:off x="1920240" y="1280160"/>
            <a:ext cx="1234440" cy="274320"/>
          </a:xfrm>
          <a:prstGeom prst="rect">
            <a:avLst/>
          </a:prstGeom>
          <a:solidFill>
            <a:srgbClr val="1A2550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920240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Чат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18688" y="1280160"/>
            <a:ext cx="1234440" cy="27432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1"/>
          <p:cNvSpPr/>
          <p:nvPr/>
        </p:nvSpPr>
        <p:spPr>
          <a:xfrm>
            <a:off x="3218688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История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17136" y="1280160"/>
            <a:ext cx="1234440" cy="27432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4517136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Документы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815584" y="1280160"/>
            <a:ext cx="1234440" cy="274320"/>
          </a:xfrm>
          <a:prstGeom prst="rect">
            <a:avLst/>
          </a:prstGeom>
          <a:solidFill>
            <a:srgbClr val="060B18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5815584" y="12801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Добавить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943600" y="1719072"/>
            <a:ext cx="2560320" cy="502920"/>
          </a:xfrm>
          <a:prstGeom prst="rect">
            <a:avLst/>
          </a:prstGeom>
          <a:solidFill>
            <a:srgbClr val="1A2550"/>
          </a:solidFill>
          <a:ln w="6350">
            <a:solidFill>
              <a:srgbClr val="2D3A7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598932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оформить заявку на отпуск?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20240" y="2331720"/>
            <a:ext cx="3108960" cy="713232"/>
          </a:xfrm>
          <a:prstGeom prst="rect">
            <a:avLst/>
          </a:prstGeom>
          <a:solidFill>
            <a:srgbClr val="0D1B3E"/>
          </a:solidFill>
          <a:ln w="635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1965960" y="23591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подаётся за 14 дней по форме ФО-07 в системе 1С.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с руководителем, подтверждение HR за 3 дня.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Источник: HR Процедуры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20240" y="3090672"/>
            <a:ext cx="640080" cy="201168"/>
          </a:xfrm>
          <a:prstGeom prst="rect">
            <a:avLst/>
          </a:prstGeom>
          <a:solidFill>
            <a:srgbClr val="0D2B10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1938528" y="309981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уверен.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615184" y="3090672"/>
            <a:ext cx="914400" cy="201168"/>
          </a:xfrm>
          <a:prstGeom prst="rect">
            <a:avLst/>
          </a:prstGeom>
          <a:solidFill>
            <a:srgbClr val="0D1B3E"/>
          </a:solidFill>
          <a:ln w="6350">
            <a:solidFill>
              <a:srgbClr val="2D3A7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3"/>
          <p:cNvSpPr/>
          <p:nvPr/>
        </p:nvSpPr>
        <p:spPr>
          <a:xfrm>
            <a:off x="2633472" y="3099816"/>
            <a:ext cx="877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HR Процедуры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920240" y="4343400"/>
            <a:ext cx="6766560" cy="347472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1993392" y="435254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A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Задай вопрос о правилах, политиках или процедурах...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302752" y="4352544"/>
            <a:ext cx="310896" cy="31089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8302752" y="43616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20240" y="384048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ТЕМНАЯ ТЕМА · SSE стриминг · История в PostgreSQL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4572000" cy="457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метрики и достижения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2011680" cy="155448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20116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19568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VisionNet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CIFAR-10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207008"/>
            <a:ext cx="2011680" cy="155448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1"/>
          <p:cNvSpPr/>
          <p:nvPr/>
        </p:nvSpPr>
        <p:spPr>
          <a:xfrm>
            <a:off x="2560320" y="1207008"/>
            <a:ext cx="201168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2"/>
          <p:cNvSpPr/>
          <p:nvPr/>
        </p:nvSpPr>
        <p:spPr>
          <a:xfrm>
            <a:off x="256032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128d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560320" y="19568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Векторное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07008"/>
            <a:ext cx="2011680" cy="155448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5"/>
          <p:cNvSpPr/>
          <p:nvPr/>
        </p:nvSpPr>
        <p:spPr>
          <a:xfrm>
            <a:off x="4754880" y="1207008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475488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&lt;100ms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54880" y="19568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ответа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вопрос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207008"/>
            <a:ext cx="2011680" cy="1554480"/>
          </a:xfrm>
          <a:prstGeom prst="rect">
            <a:avLst/>
          </a:prstGeom>
          <a:solidFill>
            <a:srgbClr val="0D1B3E"/>
          </a:solidFill>
          <a:ln w="1016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9"/>
          <p:cNvSpPr/>
          <p:nvPr/>
        </p:nvSpPr>
        <p:spPr>
          <a:xfrm>
            <a:off x="6949440" y="1207008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20"/>
          <p:cNvSpPr/>
          <p:nvPr/>
        </p:nvSpPr>
        <p:spPr>
          <a:xfrm>
            <a:off x="6949440" y="129844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~320K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49440" y="19568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Параметров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МiniTransformer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07792"/>
            <a:ext cx="8412480" cy="1920240"/>
          </a:xfrm>
          <a:prstGeom prst="rect">
            <a:avLst/>
          </a:prstGeom>
          <a:solidFill>
            <a:srgbClr val="060B18"/>
          </a:solidFill>
          <a:ln w="10160">
            <a:solidFill>
              <a:srgbClr val="1A255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548640" y="2980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SENTINEL AI vs ПОСЛЕ SENTINEL AI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201168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3291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времени на поиск информации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291840"/>
            <a:ext cx="201168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8"/>
          <p:cNvSpPr/>
          <p:nvPr/>
        </p:nvSpPr>
        <p:spPr>
          <a:xfrm>
            <a:off x="4480560" y="32918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за &lt; 100мс из любого документа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639312"/>
            <a:ext cx="201168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457200" y="36393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3232" y="3639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перебор сотен страниц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80560" y="3639312"/>
            <a:ext cx="201168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4"/>
          <p:cNvSpPr/>
          <p:nvPr/>
        </p:nvSpPr>
        <p:spPr>
          <a:xfrm>
            <a:off x="4480560" y="363931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36592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поиск по смыслу вопроса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986784"/>
            <a:ext cx="201168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7"/>
          <p:cNvSpPr/>
          <p:nvPr/>
        </p:nvSpPr>
        <p:spPr>
          <a:xfrm>
            <a:off x="457200" y="39867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13232" y="3986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истории запросов и аналитики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0560" y="3986784"/>
            <a:ext cx="201168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40"/>
          <p:cNvSpPr/>
          <p:nvPr/>
        </p:nvSpPr>
        <p:spPr>
          <a:xfrm>
            <a:off x="4480560" y="398678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36592" y="3986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история чатов в PostgreSQL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334256"/>
            <a:ext cx="201168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457200" y="43342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✗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3232" y="4334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Изображения анализируются вручную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80560" y="4334256"/>
            <a:ext cx="201168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6"/>
          <p:cNvSpPr/>
          <p:nvPr/>
        </p:nvSpPr>
        <p:spPr>
          <a:xfrm>
            <a:off x="4480560" y="43342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36592" y="4334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классифицирует с точностью 92%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5486400" cy="54864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4"/>
          <p:cNvSpPr/>
          <p:nvPr/>
        </p:nvSpPr>
        <p:spPr>
          <a:xfrm>
            <a:off x="6858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Рыночная возможность и целевая аудитория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240280"/>
            <a:ext cx="1920240" cy="1920240"/>
          </a:xfrm>
          <a:prstGeom prst="ellipse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9809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4198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рынок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37360" y="2263140"/>
            <a:ext cx="1508760" cy="1508760"/>
          </a:xfrm>
          <a:prstGeom prst="ellipse">
            <a:avLst/>
          </a:prstGeom>
          <a:solidFill>
            <a:srgbClr val="4F46E5">
              <a:alpha val="30000"/>
            </a:srgbClr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1"/>
          <p:cNvSpPr/>
          <p:nvPr/>
        </p:nvSpPr>
        <p:spPr>
          <a:xfrm>
            <a:off x="1737360" y="23545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46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798064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$320M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2369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Казахстан и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Азия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103120" y="2240280"/>
            <a:ext cx="1188720" cy="1188720"/>
          </a:xfrm>
          <a:prstGeom prst="ellipse">
            <a:avLst/>
          </a:prstGeom>
          <a:solidFill>
            <a:srgbClr val="06B6D4">
              <a:alpha val="30000"/>
            </a:srgbClr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5"/>
          <p:cNvSpPr/>
          <p:nvPr/>
        </p:nvSpPr>
        <p:spPr>
          <a:xfrm>
            <a:off x="210312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261518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30540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клиенты: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университеты и корпорации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92040" y="1261872"/>
            <a:ext cx="1828800" cy="118872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4892040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Университеты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65192" y="19568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поиск по нормативным документам, учебным планам, регламентам.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22008" y="1261872"/>
            <a:ext cx="1828800" cy="118872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6922008" y="1316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22008" y="1719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Корпорации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95160" y="19568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HR-политики, финансовые регламенты, IT-инструкции для сотрудников.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92040" y="2633472"/>
            <a:ext cx="1828800" cy="118872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4892040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92040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Медицина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65192" y="33284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медицинских документов, протоколов лечения, справочников.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22008" y="2633472"/>
            <a:ext cx="1828800" cy="1188720"/>
          </a:xfrm>
          <a:prstGeom prst="rect">
            <a:avLst/>
          </a:prstGeom>
          <a:solidFill>
            <a:srgbClr val="0D1B3E"/>
          </a:solidFill>
          <a:ln w="889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922008" y="2688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922008" y="3090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Юридические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95160" y="3328416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законодательной базе, судебным прецедентам, договорам.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8229600" cy="8229600"/>
          </a:xfrm>
          <a:prstGeom prst="ellipse">
            <a:avLst/>
          </a:prstGeom>
          <a:solidFill>
            <a:srgbClr val="1A2980">
              <a:alpha val="25000"/>
            </a:srgbClr>
          </a:solidFill>
          <a:ln w="12700">
            <a:solidFill>
              <a:srgbClr val="1A298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5486400" y="914400"/>
            <a:ext cx="5486400" cy="54864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8138160" y="228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95360" y="228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300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SENTINEL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389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платформа будущего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011680"/>
            <a:ext cx="6400800" cy="384048"/>
          </a:xfrm>
          <a:prstGeom prst="rect">
            <a:avLst/>
          </a:prstGeom>
          <a:solidFill>
            <a:srgbClr val="0D1B3E">
              <a:alpha val="80000"/>
            </a:srgb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41732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47088" y="204825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нейросеть MiniTransformer без зависимости от внешних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2450592"/>
            <a:ext cx="6400800" cy="384048"/>
          </a:xfrm>
          <a:prstGeom prst="rect">
            <a:avLst/>
          </a:prstGeom>
          <a:solidFill>
            <a:srgbClr val="0D1B3E">
              <a:alpha val="80000"/>
            </a:srgb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141732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47088" y="24871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RAG-поиск по документам за &lt; 100мс с указанием источника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2889504"/>
            <a:ext cx="6400800" cy="384048"/>
          </a:xfrm>
          <a:prstGeom prst="rect">
            <a:avLst/>
          </a:prstGeom>
          <a:solidFill>
            <a:srgbClr val="0D1B3E">
              <a:alpha val="80000"/>
            </a:srgb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1417320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7088" y="29260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VisionNet CNN — точность 92% на CIFAR-10 с ResNet+SE Attention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328416"/>
            <a:ext cx="6400800" cy="384048"/>
          </a:xfrm>
          <a:prstGeom prst="rect">
            <a:avLst/>
          </a:prstGeom>
          <a:solidFill>
            <a:srgbClr val="0D1B3E">
              <a:alpha val="80000"/>
            </a:srgb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141732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47088" y="336499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хранит всё: документы, векторы, историю чатов и обучение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371600" y="3767328"/>
            <a:ext cx="6400800" cy="384048"/>
          </a:xfrm>
          <a:prstGeom prst="rect">
            <a:avLst/>
          </a:prstGeom>
          <a:solidFill>
            <a:srgbClr val="0D1B3E">
              <a:alpha val="80000"/>
            </a:srgbClr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41732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47088" y="380390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стек: React + FastAPI + PyTorch + Docker в одной платформе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4297680"/>
            <a:ext cx="6400800" cy="594360"/>
          </a:xfrm>
          <a:prstGeom prst="rect">
            <a:avLst/>
          </a:prstGeom>
          <a:solidFill>
            <a:srgbClr val="4F46E5">
              <a:alpha val="85000"/>
            </a:srgbClr>
          </a:solidFill>
          <a:ln w="12700">
            <a:solidFill>
              <a:srgbClr val="4F46E5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Text 22"/>
          <p:cNvSpPr/>
          <p:nvPr/>
        </p:nvSpPr>
        <p:spPr>
          <a:xfrm>
            <a:off x="1371600" y="42976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Әбілмәжінов Расул Айдынұлы  ·  Университет Сатпаева  ·  Алматы, 2024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Microsoft Office PowerPoint</Application>
  <PresentationFormat>Экран (16:9)</PresentationFormat>
  <Paragraphs>327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AI — Стартап Презентация</dc:title>
  <dc:subject>PptxGenJS Presentation</dc:subject>
  <dc:creator>Әбілмәжінов Расул Айдынұлы</dc:creator>
  <cp:lastModifiedBy>Расул Абильмажинов</cp:lastModifiedBy>
  <cp:revision>2</cp:revision>
  <dcterms:created xsi:type="dcterms:W3CDTF">2026-04-16T04:52:54Z</dcterms:created>
  <dcterms:modified xsi:type="dcterms:W3CDTF">2026-04-16T05:07:01Z</dcterms:modified>
</cp:coreProperties>
</file>